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ldairAzevedo/energy-demand-forecas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Modelagem Preditiva de Carga e Demanda Líquida</a:t>
            </a:r>
            <a:br/>
            <a:r>
              <a:t>na Transição Energética</a:t>
            </a:r>
          </a:p>
          <a:p>
            <a:pPr>
              <a:spcBef>
                <a:spcPts val="1200"/>
              </a:spcBef>
              <a:defRPr sz="1800">
                <a:solidFill>
                  <a:srgbClr val="2563EB"/>
                </a:solidFill>
              </a:defRPr>
            </a:pPr>
            <a:r>
              <a:t>Da Regressão Não-Linear Clássica ao Smart Building com Microgeração Solar</a:t>
            </a:r>
          </a:p>
          <a:p>
            <a:pPr>
              <a:spcBef>
                <a:spcPts val="2800"/>
              </a:spcBef>
              <a:defRPr sz="1300">
                <a:solidFill>
                  <a:srgbClr val="334155"/>
                </a:solidFill>
              </a:defRPr>
            </a:pPr>
            <a:r>
              <a:t>Disciplina: PGENE585 – Transição Energética Sustentável e Mercados de Energia</a:t>
            </a:r>
            <a:br/>
            <a:r>
              <a:t>PPGEE / UFAM – Universidade Federal do Amazonas</a:t>
            </a:r>
            <a:br/>
            <a:r>
              <a:t>Aluno: Aldair da Silva Azevedo | Professor: Dr. Kenny Vinente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1. Cenários Reais e Relevância Energética</a:t>
            </a:r>
          </a:p>
          <a:p>
            <a:pPr>
              <a:spcBef>
                <a:spcPts val="400"/>
              </a:spcBef>
              <a:defRPr sz="1300">
                <a:solidFill>
                  <a:srgbClr val="2563EB"/>
                </a:solidFill>
              </a:defRPr>
            </a:pPr>
            <a:r>
              <a:t>Fundamentos Físicos dos Dois Sistemas Modelados em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50">
                <a:solidFill>
                  <a:srgbClr val="0F172A"/>
                </a:solidFill>
              </a:rPr>
              <a:t>Cenário 1 — Rede de Distribuição Metropolitana (CMU 15-884):</a:t>
            </a:r>
            <a:r>
              <a:rPr sz="1300">
                <a:solidFill>
                  <a:srgbClr val="334155"/>
                </a:solidFill>
              </a:rPr>
              <a:t> Dados reais da concessionária Duquesne Light (Pittsburgh, EUA) cobrindo 4 anos completos (2008 a 2011) — totalizando 1.460 dias e 35.064 horas consecutivas de despacho elétrico da rede.</a:t>
            </a:r>
          </a:p>
          <a:p>
            <a:pPr>
              <a:spcBef>
                <a:spcPts val="800"/>
              </a:spcBef>
            </a:pPr>
            <a:r>
              <a:rPr b="1" sz="1350">
                <a:solidFill>
                  <a:srgbClr val="0F172A"/>
                </a:solidFill>
              </a:rPr>
              <a:t>A Física da Não-Linearidade Térmica:</a:t>
            </a:r>
            <a:r>
              <a:rPr sz="1300">
                <a:solidFill>
                  <a:srgbClr val="334155"/>
                </a:solidFill>
              </a:rPr>
              <a:t> O consumo de energia responde à termodinâmica humana em curva em 'U': dias amenos (~15,6°C) têm baixa demanda, enquanto o frio rigoroso (abaixo de 0°C e até -14,4°C) dispara o aquecimento e o calor intenso (acima de 29°C e até 35,0°C) dispara o ar-condicionado.</a:t>
            </a:r>
          </a:p>
          <a:p>
            <a:pPr>
              <a:spcBef>
                <a:spcPts val="800"/>
              </a:spcBef>
            </a:pPr>
            <a:r>
              <a:rPr b="1" sz="1350">
                <a:solidFill>
                  <a:srgbClr val="0F172A"/>
                </a:solidFill>
              </a:rPr>
              <a:t>Cenário 2 — Edifício Inteligente Comercial Prosumidor (Zenodo 2025):</a:t>
            </a:r>
            <a:r>
              <a:rPr sz="1300">
                <a:solidFill>
                  <a:srgbClr val="334155"/>
                </a:solidFill>
              </a:rPr>
              <a:t> Prédio com geração solar fotovoltaica instalada na cobertura (Rooftop Solar PV). Telemetria de 1 ano completo com medições a cada 5 minutos (105.120 amostras) de potência ativa, tensão, corrente, temperatura e geração solar.</a:t>
            </a:r>
          </a:p>
          <a:p>
            <a:pPr>
              <a:spcBef>
                <a:spcPts val="800"/>
              </a:spcBef>
            </a:pPr>
            <a:r>
              <a:rPr b="1" sz="1350">
                <a:solidFill>
                  <a:srgbClr val="0F172A"/>
                </a:solidFill>
              </a:rPr>
              <a:t>Relevância para a Transição e Mercado Livre (Grupo B):</a:t>
            </a:r>
            <a:r>
              <a:rPr sz="1300">
                <a:solidFill>
                  <a:srgbClr val="334155"/>
                </a:solidFill>
              </a:rPr>
              <a:t> A expansão do PLD Horário e das tarifas dinâmicas exige prever com alta precisão a Demanda Líquida (Carga - Solar) para evitar multas de ultrapassagem e despachar baterias.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2. Formulação Matemática: Modelos de Regressão &amp; Perdas L2 vs. L1</a:t>
            </a:r>
          </a:p>
          <a:p>
            <a:pPr>
              <a:spcBef>
                <a:spcPts val="400"/>
              </a:spcBef>
              <a:defRPr sz="1300">
                <a:solidFill>
                  <a:srgbClr val="2563EB"/>
                </a:solidFill>
              </a:defRPr>
            </a:pPr>
            <a:r>
              <a:t>Conceito Fundamental, Otimização Paramétrica e Comportamento dos Erros no Python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28655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91440" lIns="182880" rIns="182880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O que é um Modelo de Regressão?</a:t>
            </a:r>
          </a:p>
          <a:p>
            <a:pPr>
              <a:spcBef>
                <a:spcPts val="300"/>
              </a:spcBef>
              <a:defRPr sz="1150">
                <a:solidFill>
                  <a:srgbClr val="334155"/>
                </a:solidFill>
              </a:defRPr>
            </a:pPr>
            <a:r>
              <a:t>É uma técnica estatística e de aprendizado de máquina (Machine Learning) usada para investigar a relação entre uma variável dependente (o desfecho ou valor que queremos prever) e uma ou mais variáveis independentes (os preditores ou características).</a:t>
            </a:r>
          </a:p>
          <a:p>
            <a:pPr>
              <a:spcBef>
                <a:spcPts val="300"/>
              </a:spcBef>
            </a:pPr>
            <a:r>
              <a:rPr b="1" sz="1050">
                <a:solidFill>
                  <a:srgbClr val="2563EB"/>
                </a:solidFill>
              </a:rPr>
              <a:t>➔ Aplicação no Sistema (CMU Item 5): </a:t>
            </a:r>
            <a:r>
              <a:rPr sz="1050">
                <a:solidFill>
                  <a:srgbClr val="334155"/>
                </a:solidFill>
              </a:rPr>
              <a:t>Variável Dependente (y): Pico diário de demanda da rede em GW | Variável Independente (x): Temperatura máxima diária em °C | Amostras: N = 1.460 dias.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71800"/>
            <a:ext cx="521208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91440" lIns="164592" r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Perda Quadrática (L2 — Mínimos Quadrados / OLS)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563EB"/>
                </a:solidFill>
              </a:rPr>
              <a:t>Função Objetivo: </a:t>
            </a:r>
            <a:r>
              <a:rPr sz="1000">
                <a:solidFill>
                  <a:srgbClr val="334155"/>
                </a:solidFill>
              </a:rPr>
              <a:t>J(θ) = Σ (y_i - φ(x_i) θ)². Minimiza o erro quadrático médio em toda a amostra.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563EB"/>
                </a:solidFill>
              </a:rPr>
              <a:t>Solução no Python: </a:t>
            </a:r>
            <a:r>
              <a:rPr sz="1000">
                <a:solidFill>
                  <a:srgbClr val="334155"/>
                </a:solidFill>
              </a:rPr>
              <a:t>Equação Normal analítica exata: θ = (Φᵀ Φ)⁻¹ Φᵀ y, executada com alta velocidade.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563EB"/>
                </a:solidFill>
              </a:rPr>
              <a:t>Comportamento Estatístico: </a:t>
            </a:r>
            <a:r>
              <a:rPr sz="1000">
                <a:solidFill>
                  <a:srgbClr val="334155"/>
                </a:solidFill>
              </a:rPr>
              <a:t>Estima a MÉDIA condicional da demanda dada a temperatura (distribuição Gaussiana).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2563EB"/>
                </a:solidFill>
              </a:rPr>
              <a:t>Sensibilidade a Outliers: </a:t>
            </a:r>
            <a:r>
              <a:rPr sz="1000">
                <a:solidFill>
                  <a:srgbClr val="334155"/>
                </a:solidFill>
              </a:rPr>
              <a:t>Por elevar os erros ao quadrado, a curva é puxada para baixo por dias com quedas atípicas de consumo (feriados, pontes e paradas pontuais da rede).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2971800"/>
            <a:ext cx="5212080" cy="3337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91440" lIns="164592" r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Perda Absoluta (L1 — LAD Robusta / Powell)</a:t>
            </a:r>
          </a:p>
          <a:p>
            <a:pPr>
              <a:spcBef>
                <a:spcPts val="350"/>
              </a:spcBef>
            </a:pPr>
            <a:r>
              <a:rPr b="1" sz="950">
                <a:solidFill>
                  <a:srgbClr val="2563EB"/>
                </a:solidFill>
              </a:rPr>
              <a:t>Função Objetivo: </a:t>
            </a:r>
            <a:r>
              <a:rPr sz="950">
                <a:solidFill>
                  <a:srgbClr val="334155"/>
                </a:solidFill>
              </a:rPr>
              <a:t>J(θ) = Σ |y_i - φ(x_i) θ|. Penaliza os desvios de forma linear e proporcional.</a:t>
            </a:r>
          </a:p>
          <a:p>
            <a:pPr>
              <a:spcBef>
                <a:spcPts val="350"/>
              </a:spcBef>
            </a:pPr>
            <a:r>
              <a:rPr b="1" sz="950">
                <a:solidFill>
                  <a:srgbClr val="2563EB"/>
                </a:solidFill>
              </a:rPr>
              <a:t>Solução no Python: </a:t>
            </a:r>
            <a:r>
              <a:rPr sz="950">
                <a:solidFill>
                  <a:srgbClr val="334155"/>
                </a:solidFill>
              </a:rPr>
              <a:t>Otimização numérica via scipy.optimize.minimize com método Powell (sem derivada).</a:t>
            </a:r>
          </a:p>
          <a:p>
            <a:pPr>
              <a:spcBef>
                <a:spcPts val="350"/>
              </a:spcBef>
            </a:pPr>
            <a:r>
              <a:rPr b="1" sz="950">
                <a:solidFill>
                  <a:srgbClr val="2563EB"/>
                </a:solidFill>
              </a:rPr>
              <a:t>Comportamento Estatístico: </a:t>
            </a:r>
            <a:r>
              <a:rPr sz="950">
                <a:solidFill>
                  <a:srgbClr val="334155"/>
                </a:solidFill>
              </a:rPr>
              <a:t>Estima a MEDIANA condicional da demanda (associada à distribuição de Laplace).</a:t>
            </a:r>
          </a:p>
          <a:p>
            <a:pPr>
              <a:spcBef>
                <a:spcPts val="350"/>
              </a:spcBef>
            </a:pPr>
            <a:r>
              <a:rPr b="1" sz="950">
                <a:solidFill>
                  <a:srgbClr val="2563EB"/>
                </a:solidFill>
              </a:rPr>
              <a:t>Máxima Robustez Física: </a:t>
            </a:r>
            <a:r>
              <a:rPr sz="950">
                <a:solidFill>
                  <a:srgbClr val="334155"/>
                </a:solidFill>
              </a:rPr>
              <a:t>Ignora quedas atípicas de feriados; traça o consumo típico e fica ligeiramente ACIMA de L2 no gráfico, refletindo os dias de operação plena da rede.</a:t>
            </a:r>
          </a:p>
          <a:p>
            <a:pPr>
              <a:spcBef>
                <a:spcPts val="350"/>
              </a:spcBef>
            </a:pPr>
            <a:r>
              <a:rPr b="1" sz="950">
                <a:solidFill>
                  <a:srgbClr val="2563EB"/>
                </a:solidFill>
              </a:rPr>
              <a:t>Regularização Ridge (λ = 10⁻⁴): </a:t>
            </a:r>
            <a:r>
              <a:rPr sz="950">
                <a:solidFill>
                  <a:srgbClr val="334155"/>
                </a:solidFill>
              </a:rPr>
              <a:t>Penalidade λ ||θ||² incluída para evitar sobreajuste em matrizes de alta dimensão.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3. Arquitetura dos 4 Modelos de Regressão</a:t>
            </a:r>
          </a:p>
          <a:p>
            <a:pPr>
              <a:spcBef>
                <a:spcPts val="400"/>
              </a:spcBef>
              <a:defRPr sz="1300">
                <a:solidFill>
                  <a:srgbClr val="2563EB"/>
                </a:solidFill>
              </a:defRPr>
            </a:pPr>
            <a:r>
              <a:t>CMU 15-884 (Item 5) – Capacidade de Modelagem e Resposta Térmica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00">
                <a:solidFill>
                  <a:srgbClr val="0F172A"/>
                </a:solidFill>
              </a:rPr>
              <a:t>1. Linear Simples [φ(x) = [1, x]]:</a:t>
            </a:r>
            <a:r>
              <a:rPr sz="1250">
                <a:solidFill>
                  <a:srgbClr val="334155"/>
                </a:solidFill>
              </a:rPr>
              <a:t> Linha reta rígida com pesos θ ∈ ℝ². Falha na física do problema (R² = 0.116), pois supõe erroneamente que frio e calor agem na mesma direção sobre o consumo.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F172A"/>
                </a:solidFill>
              </a:rPr>
              <a:t>2. Polinomial [φ(x) = [1, x, x², x³, x⁴, x⁵]]:</a:t>
            </a:r>
            <a:r>
              <a:rPr sz="1250">
                <a:solidFill>
                  <a:srgbClr val="334155"/>
                </a:solidFill>
              </a:rPr>
              <a:t> Curva contínua suave com pesos θ ∈ ℝ⁶. Modela a elevação no frio e no calor (R² salta para 0.715). Ponto fraco: vulnerabilidade a oscilações em extremos térmicos.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F172A"/>
                </a:solidFill>
              </a:rPr>
              <a:t>3. Funções de Base Radial (RBF Local):</a:t>
            </a:r>
            <a:r>
              <a:rPr sz="1250">
                <a:solidFill>
                  <a:srgbClr val="334155"/>
                </a:solidFill>
              </a:rPr>
              <a:t> 5 centros fixos distribuídos na faixa térmica μ = [-6,7; 4,4; 15,6; 26,7; 37,8]°C com dispersão σ ≈ 11,1°C. φ_j(x) = exp(-(x - μ_j)² / (2σ²)). Sinos gaussianos que capturam comportamentos locais sem instabilidade nas bordas (R² = 0.713).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F172A"/>
                </a:solidFill>
              </a:rPr>
              <a:t>4. Kernel Gaussiano com Ridge (Dual, λ = 10⁻⁴):</a:t>
            </a:r>
            <a:r>
              <a:rPr sz="1250">
                <a:solidFill>
                  <a:srgbClr val="334155"/>
                </a:solidFill>
              </a:rPr>
              <a:t> Formulação dual via matriz de Gram K ∈ ℝ¹⁴⁶⁰ˣ¹⁴⁶⁰, comparando cada dia contra todo o histórico. Atingiu a maior acurácia global do estudo (R² = 0.717 e menor RMSE = 0.157 GW).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4. Resultados Experimentais: Ajuste dos 4 Modelos (Q5)</a:t>
            </a:r>
          </a:p>
          <a:p>
            <a:pPr>
              <a:spcBef>
                <a:spcPts val="400"/>
              </a:spcBef>
              <a:defRPr sz="1300">
                <a:solidFill>
                  <a:srgbClr val="2563EB"/>
                </a:solidFill>
              </a:defRPr>
            </a:pPr>
            <a:r>
              <a:t>CMU 15-884 (Item 5) – Comparativo das Curvas Ajustadas em 1.460 Dias</a:t>
            </a:r>
          </a:p>
        </p:txBody>
      </p:sp>
      <p:pic>
        <p:nvPicPr>
          <p:cNvPr id="3" name="Picture 2" descr="cmu_q5_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675120" cy="265691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4434840"/>
            <a:ext cx="6675120" cy="1874519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 lIns="137160" rIns="137160"/>
          <a:lstStyle/>
          <a:p>
            <a:pPr algn="ctr">
              <a:defRPr b="1" sz="1150">
                <a:solidFill>
                  <a:srgbClr val="0F172A"/>
                </a:solidFill>
              </a:defRPr>
            </a:pPr>
            <a:r>
              <a:t>Métricas de Acurácia Calculadas no Sistema em Python: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• Métricas: R² = Acurácia/Explicação (0 a 1) | RMSE = Erro quadrático (GW) | MAE = Desvio médio absoluto (GW)</a:t>
            </a:r>
            <a:br/>
            <a:r>
              <a:t>• Linear Simples (L2): RMSE = 0.278 GW | MAE = 0.226 GW | R² = 0.116 (Insuficiente)</a:t>
            </a:r>
            <a:br/>
            <a:r>
              <a:t>• Polinomial d=5 (L2): RMSE = 0.158 GW | MAE = 0.120 GW | R² = 0.715 (Excelente em U)</a:t>
            </a:r>
            <a:br/>
            <a:r>
              <a:t>• RBF 5 centros (L2): RMSE = 0.158 GW | MAE = 0.121 GW | R² = 0.713 (Estável local)</a:t>
            </a:r>
            <a:br/>
            <a:r>
              <a:t>• Kernel Gaussiano (L2): RMSE = 0.157 GW | MAE = 0.120 GW | R² = 0.717 (Campeão global)</a:t>
            </a:r>
            <a:br/>
            <a:r>
              <a:t>• Kernel Gaussiano (L1): Menor MAE de toda a suíte (0.118 GW) com máxima robustez.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645920"/>
            <a:ext cx="38404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37160" rIns="137160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Roteiro de Leitura Física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2563EB"/>
                </a:solidFill>
              </a:rPr>
              <a:t>Dispersão Observada: </a:t>
            </a:r>
            <a:r>
              <a:rPr sz="1000">
                <a:solidFill>
                  <a:srgbClr val="334155"/>
                </a:solidFill>
              </a:rPr>
              <a:t>1.460 pontos cinzas registrando a demanda diária real em GW da Duquesne Light.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2563EB"/>
                </a:solidFill>
              </a:rPr>
              <a:t>Mínimo Térmico: </a:t>
            </a:r>
            <a:r>
              <a:rPr sz="1000">
                <a:solidFill>
                  <a:srgbClr val="334155"/>
                </a:solidFill>
              </a:rPr>
              <a:t>O vale de consumo ocorre perto de 15,6°C; acima de 29°C (chegando a 35,0°C) a demanda atinge pico.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2563EB"/>
                </a:solidFill>
              </a:rPr>
              <a:t>Comportamento L1 vs L2: </a:t>
            </a:r>
            <a:r>
              <a:rPr sz="1000">
                <a:solidFill>
                  <a:srgbClr val="334155"/>
                </a:solidFill>
              </a:rPr>
              <a:t>As curvas com perda L1 (mediana) situam-se ligeiramente ACIMA de L2 (média), pois a perda quadrática L2 é puxada para baixo por feriados e quedas anômalas.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2563EB"/>
                </a:solidFill>
              </a:rPr>
              <a:t>Conclusão do Estudo: </a:t>
            </a:r>
            <a:r>
              <a:rPr sz="1000">
                <a:solidFill>
                  <a:srgbClr val="334155"/>
                </a:solidFill>
              </a:rPr>
              <a:t>A não-linearidade térmica é mandatória: modelos não-lineares elevam a acurácia em &gt;600%.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5. Engenharia de Dados: Higienização e Sincronização</a:t>
            </a:r>
          </a:p>
          <a:p>
            <a:pPr>
              <a:spcBef>
                <a:spcPts val="400"/>
              </a:spcBef>
              <a:defRPr sz="1300">
                <a:solidFill>
                  <a:srgbClr val="2563EB"/>
                </a:solidFill>
              </a:defRPr>
            </a:pPr>
            <a:r>
              <a:t>CMU 15-884 (Item 6) – Tratamento de Sensores e Alinhamento Temporal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00">
                <a:solidFill>
                  <a:srgbClr val="0F172A"/>
                </a:solidFill>
              </a:rPr>
              <a:t>Dados Brutos de Entrada:</a:t>
            </a:r>
            <a:r>
              <a:rPr sz="1250">
                <a:solidFill>
                  <a:srgbClr val="334155"/>
                </a:solidFill>
              </a:rPr>
              <a:t> q6_demand.txt (35.064 horas de demanda da Duquesne Light em MW) e q6_weather.txt (38.765 medições meteorológicas assíncronas do Aeroporto de Pittsburgh).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F172A"/>
                </a:solidFill>
              </a:rPr>
              <a:t>Detecção e Tratamento de Sentinelas (-9999):</a:t>
            </a:r>
            <a:r>
              <a:rPr sz="1250">
                <a:solidFill>
                  <a:srgbClr val="334155"/>
                </a:solidFill>
              </a:rPr>
              <a:t> Sensores meteorológicos reais apresentam falhas reportadas como '-9999'. O módulo DataCleaner substituiu 100 medições defeituosas (18 em temp, 18 em orvalho, 18 em umidade, 20 em pressão, 26 em vento) por interpolação linear temporal contínua.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F172A"/>
                </a:solidFill>
              </a:rPr>
              <a:t>Deduplicação e Sincronização Horária Exata:</a:t>
            </a:r>
            <a:r>
              <a:rPr sz="1250">
                <a:solidFill>
                  <a:srgbClr val="334155"/>
                </a:solidFill>
              </a:rPr>
              <a:t> Timestamps duplicados foram expurgados. Como as leituras climáticas chegavam em intervalos irregulares (a cada 45 ou 50 min), o TimeSeriesInterpolator sincronizou cada medição ao segundo zero de cada uma das 35.064 horas da carga.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F172A"/>
                </a:solidFill>
              </a:rPr>
              <a:t>Agregação Diária e Matriz de Features:</a:t>
            </a:r>
            <a:r>
              <a:rPr sz="1250">
                <a:solidFill>
                  <a:srgbClr val="334155"/>
                </a:solidFill>
              </a:rPr>
              <a:t> Extração do pico diário de demanda elétrica (y_d em MW) e 6 atributos climáticos agregados por dia: Temp Máx, Temp Mín, Orvalho Médio, Umidade Média, Pressão e Vento.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6. Prova Empírica: Benefício do Modelo Multivariado</a:t>
            </a:r>
          </a:p>
          <a:p>
            <a:pPr>
              <a:spcBef>
                <a:spcPts val="400"/>
              </a:spcBef>
              <a:defRPr sz="1300">
                <a:solidFill>
                  <a:srgbClr val="2563EB"/>
                </a:solidFill>
              </a:defRPr>
            </a:pPr>
            <a:r>
              <a:t>CMU 15-884 (Item 6) – Redução de 8.73% no Erro Quadrático Médio (MSE)</a:t>
            </a:r>
          </a:p>
        </p:txBody>
      </p:sp>
      <p:pic>
        <p:nvPicPr>
          <p:cNvPr id="3" name="Picture 2" descr="cmu_q6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675120" cy="26566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4434840"/>
            <a:ext cx="6675120" cy="1874519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 lIns="137160" rIns="137160"/>
          <a:lstStyle/>
          <a:p>
            <a:pPr algn="ctr">
              <a:defRPr b="1" sz="1150">
                <a:solidFill>
                  <a:srgbClr val="0F172A"/>
                </a:solidFill>
              </a:defRPr>
            </a:pPr>
            <a:r>
              <a:t>Evidência Empírica Calculada no Pipeline em Python: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• Modelo Univariado (T_max isolada): MSE = 19.866,54 MW² | R² = 0.509</a:t>
            </a:r>
            <a:br/>
            <a:r>
              <a:t>• Modelo Multivariado (6 Variáveis Climáticas): MSE = 18.131,88 MW² | R² = 0.552</a:t>
            </a:r>
            <a:br/>
            <a:r>
              <a:t>➔ GANHO REAL DE ACURÁCIA: REDUÇÃO DE 8.73% NO ERRO QUADRÁTICO MÉDIO (MSE).</a:t>
            </a:r>
            <a:br/>
            <a:r>
              <a:t>Comprova a tese de que a atmosfera atua de forma multivariada sobre a demanda da rede.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645920"/>
            <a:ext cx="38404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37160" rIns="137160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Física das Novas Variáveis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2563EB"/>
                </a:solidFill>
              </a:rPr>
              <a:t>O Teste de Hipótese: </a:t>
            </a:r>
            <a:r>
              <a:rPr sz="1000">
                <a:solidFill>
                  <a:srgbClr val="334155"/>
                </a:solidFill>
              </a:rPr>
              <a:t>Verificar se incorporar vento, umidade e orvalho reduz o erro frente à temperatura máxima isolada.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2563EB"/>
                </a:solidFill>
              </a:rPr>
              <a:t>Ponto de Orvalho (+0.39): </a:t>
            </a:r>
            <a:r>
              <a:rPr sz="1000">
                <a:solidFill>
                  <a:srgbClr val="334155"/>
                </a:solidFill>
              </a:rPr>
              <a:t>Expressa calor latente e umidade absoluta; sensação de abafamento eleva o uso de condicionadores de ar.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2563EB"/>
                </a:solidFill>
              </a:rPr>
              <a:t>Velocidade do Vento (-0.14): </a:t>
            </a:r>
            <a:r>
              <a:rPr sz="1000">
                <a:solidFill>
                  <a:srgbClr val="334155"/>
                </a:solidFill>
              </a:rPr>
              <a:t>Promove convecção térmica nas fachadas e arrefecimento passivo, aliviando a carga.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2563EB"/>
                </a:solidFill>
              </a:rPr>
              <a:t>Pressão Atmosférica: </a:t>
            </a:r>
            <a:r>
              <a:rPr sz="1000">
                <a:solidFill>
                  <a:srgbClr val="334155"/>
                </a:solidFill>
              </a:rPr>
              <a:t>Indica aproximação de tempestades e frentes frias, antecipando picos de demanda.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7. Smart Building &amp; Energia Solar (Zenodo 2025)</a:t>
            </a:r>
          </a:p>
          <a:p>
            <a:pPr>
              <a:spcBef>
                <a:spcPts val="400"/>
              </a:spcBef>
              <a:defRPr sz="1300">
                <a:solidFill>
                  <a:srgbClr val="2563EB"/>
                </a:solidFill>
              </a:defRPr>
            </a:pPr>
            <a:r>
              <a:t>Competição Zenodo 2025 – Telemetria Real em 105.120 Amostras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b="1" sz="1300">
                <a:solidFill>
                  <a:srgbClr val="0F172A"/>
                </a:solidFill>
              </a:rPr>
              <a:t>Cenário Físico do Edifício Inteligente:</a:t>
            </a:r>
            <a:r>
              <a:rPr sz="1250">
                <a:solidFill>
                  <a:srgbClr val="334155"/>
                </a:solidFill>
              </a:rPr>
              <a:t> Telemetria de 1 ano completo a cada 5 minutos (105.120 leituras) de Potência Ativa (W), Tensão (V), Corrente (A), Temperatura (°C) e Geração Fotovoltaica em telhado (W).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F172A"/>
                </a:solidFill>
              </a:rPr>
              <a:t>Pipeline de Modelagem no Python:</a:t>
            </a:r>
            <a:r>
              <a:rPr sz="1250">
                <a:solidFill>
                  <a:srgbClr val="334155"/>
                </a:solidFill>
              </a:rPr>
              <a:t> Agregação em 8.760 horas, defasagens temporais autoregressivas (lags t-1, t-2) e variáveis de calendário (hora do dia 0-23 e dia da semana 0-6).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F172A"/>
                </a:solidFill>
              </a:rPr>
              <a:t>Avaliação Multi-critério da Competição:</a:t>
            </a:r>
            <a:r>
              <a:rPr sz="1250">
                <a:solidFill>
                  <a:srgbClr val="334155"/>
                </a:solidFill>
              </a:rPr>
              <a:t> Avalia conjuntamente acurácia de erro (RMSE e MAE), qualidade de ajuste (R²) e tempo de processamento computacional para viabilizar controle em tempo real.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F172A"/>
                </a:solidFill>
              </a:rPr>
              <a:t>Resultados Comparativos dos Modelos:</a:t>
            </a:r>
            <a:r>
              <a:rPr sz="1250">
                <a:solidFill>
                  <a:srgbClr val="334155"/>
                </a:solidFill>
              </a:rPr>
              <a:t> Ridge Linear: RMSE = 398,35 W | MAE = 221,67 W | R² = 0.871 | Latência: 17,5 ms.
 Random Forest (50 árvores): RMSE = 349,45 W | MAE = 184,12 W | R² = 0.900 | Tempo: 134,1 ms (Campeão em acurácia e capacidade de generalização).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8. Impacto da Demanda Líquida e Curva do Pato</a:t>
            </a:r>
          </a:p>
          <a:p>
            <a:pPr>
              <a:spcBef>
                <a:spcPts val="400"/>
              </a:spcBef>
              <a:defRPr sz="1300">
                <a:solidFill>
                  <a:srgbClr val="2563EB"/>
                </a:solidFill>
              </a:defRPr>
            </a:pPr>
            <a:r>
              <a:t>Smart Building &amp; Transição – Autoconsumo Solar e Curva do Pato</a:t>
            </a:r>
          </a:p>
        </p:txBody>
      </p:sp>
      <p:pic>
        <p:nvPicPr>
          <p:cNvPr id="3" name="Picture 2" descr="zenodo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675120" cy="35362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303520"/>
            <a:ext cx="6675120" cy="10058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 lIns="137160" rIns="137160"/>
          <a:lstStyle/>
          <a:p>
            <a:pPr algn="ctr">
              <a:defRPr b="1" sz="1150">
                <a:solidFill>
                  <a:srgbClr val="0F172A"/>
                </a:solidFill>
              </a:defRPr>
            </a:pPr>
            <a:r>
              <a:t>Balanço Energético Anual Calculado no Sistema em Python: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• Potência Média Consumida pelo Edifício: 1.909 W (1,91 kW)</a:t>
            </a:r>
            <a:br/>
            <a:r>
              <a:t>• Potência Média Gerada pelos Painéis Solares: 715 W (Pico máximo registrado: 5.993 W)</a:t>
            </a:r>
            <a:br/>
            <a:r>
              <a:t>• TAXA DE COBERTURA / AUTOCONSUMO SOLAR: 13.53% de toda a energia do edifício.</a:t>
            </a:r>
            <a:br/>
            <a:r>
              <a:t>Apresenta a formação clássica da Curva do Pato, evidenciando a necessidade de inteligência preditiva para despacho e resposta da demanda.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645920"/>
            <a:ext cx="38404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37160" rIns="137160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Análise Operacional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2563EB"/>
                </a:solidFill>
              </a:rPr>
              <a:t>Demanda Líquida: </a:t>
            </a:r>
            <a:r>
              <a:rPr sz="1000">
                <a:solidFill>
                  <a:srgbClr val="334155"/>
                </a:solidFill>
              </a:rPr>
              <a:t>Calculada no sistema como P_líquida = P_consumo - P_solar. Representa a carga líquida que a rede deve atender.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2563EB"/>
                </a:solidFill>
              </a:rPr>
              <a:t>Curva do Pato: </a:t>
            </a:r>
            <a:r>
              <a:rPr sz="1000">
                <a:solidFill>
                  <a:srgbClr val="334155"/>
                </a:solidFill>
              </a:rPr>
              <a:t>O pico solar ao meio-dia (~6 kW) afunda a demanda líquida para perto de zero; às 18h surge uma rampa de subida severa.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2563EB"/>
                </a:solidFill>
              </a:rPr>
              <a:t>Oportunidade BESS: </a:t>
            </a:r>
            <a:r>
              <a:rPr sz="1000">
                <a:solidFill>
                  <a:srgbClr val="334155"/>
                </a:solidFill>
              </a:rPr>
              <a:t>Justifica o uso de bancos de baterias para absorver excedente solar e descarregar no horário de ponta.</a:t>
            </a:r>
          </a:p>
          <a:p>
            <a:pPr>
              <a:spcBef>
                <a:spcPts val="500"/>
              </a:spcBef>
            </a:pPr>
            <a:r>
              <a:rPr b="1" sz="1000">
                <a:solidFill>
                  <a:srgbClr val="2563EB"/>
                </a:solidFill>
              </a:rPr>
              <a:t>Gestão Econômica: </a:t>
            </a:r>
            <a:r>
              <a:rPr sz="1000">
                <a:solidFill>
                  <a:srgbClr val="334155"/>
                </a:solidFill>
              </a:rPr>
              <a:t>Permite ao gestor predial no Mercado Livre evitar custos abusivos com demanda contratada.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9. Conclusões e Contribuições para a Pesquisa</a:t>
            </a:r>
          </a:p>
          <a:p>
            <a:pPr>
              <a:spcBef>
                <a:spcPts val="400"/>
              </a:spcBef>
              <a:defRPr sz="1300">
                <a:solidFill>
                  <a:srgbClr val="2563EB"/>
                </a:solidFill>
              </a:defRPr>
            </a:pPr>
            <a:r>
              <a:t>Síntese das Contribuições e Integração com a Dissertação de Mestrado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</a:pPr>
            <a:r>
              <a:rPr b="1" sz="1300">
                <a:solidFill>
                  <a:srgbClr val="0F172A"/>
                </a:solidFill>
              </a:rPr>
              <a:t>Superioridade de Modelos Não-Lineares Regularizados:</a:t>
            </a:r>
            <a:r>
              <a:rPr sz="1250">
                <a:solidFill>
                  <a:srgbClr val="334155"/>
                </a:solidFill>
              </a:rPr>
              <a:t> O Kernel Gaussiano Ridge (CMU) e o Random Forest (Zenodo) atingiram R² de 0.717 e 0.900, demonstrando a necessidade de capturar a não-linearidade térmica e solar.</a:t>
            </a:r>
          </a:p>
          <a:p>
            <a:pPr>
              <a:spcBef>
                <a:spcPts val="500"/>
              </a:spcBef>
            </a:pPr>
            <a:r>
              <a:rPr b="1" sz="1300">
                <a:solidFill>
                  <a:srgbClr val="0F172A"/>
                </a:solidFill>
              </a:rPr>
              <a:t>A Força da Engenharia de Atributos Multivariada:</a:t>
            </a:r>
            <a:r>
              <a:rPr sz="1250">
                <a:solidFill>
                  <a:srgbClr val="334155"/>
                </a:solidFill>
              </a:rPr>
              <a:t> A inclusão de variáveis como ponto de orvalho e vento reduziu o erro em 8.73% em relação ao uso de temperatura isolada na rede da Duquesne Light.</a:t>
            </a:r>
          </a:p>
          <a:p>
            <a:pPr>
              <a:spcBef>
                <a:spcPts val="500"/>
              </a:spcBef>
            </a:pPr>
            <a:r>
              <a:rPr b="1" sz="1300">
                <a:solidFill>
                  <a:srgbClr val="0F172A"/>
                </a:solidFill>
              </a:rPr>
              <a:t>Conexão com a Dissertação de Mestrado (HEMS no Mercado Livre):</a:t>
            </a:r>
            <a:r>
              <a:rPr sz="1250">
                <a:solidFill>
                  <a:srgbClr val="334155"/>
                </a:solidFill>
              </a:rPr>
              <a:t> A previsão de demanda líquida desenvolvida neste trabalho constitui o módulo de inteligência central do sistema autônomo (HEMS) proposto para o Grupo B.</a:t>
            </a:r>
          </a:p>
          <a:p>
            <a:pPr>
              <a:spcBef>
                <a:spcPts val="500"/>
              </a:spcBef>
            </a:pPr>
            <a:r>
              <a:rPr b="1" sz="1300">
                <a:solidFill>
                  <a:srgbClr val="0F172A"/>
                </a:solidFill>
              </a:rPr>
              <a:t>Arquitetura e Qualidade de Software:</a:t>
            </a:r>
            <a:r>
              <a:rPr sz="1250">
                <a:solidFill>
                  <a:srgbClr val="334155"/>
                </a:solidFill>
              </a:rPr>
              <a:t> Aplicação monolítica full stack em Python com POO, auditável via 7 ciclos em JSON, com cobertura de testes automatizados e zero débito técnico (Clean Code).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892040"/>
            <a:ext cx="1069848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 rIns="182880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Repositório no GitHub (Código-Fonte Aberto, Dados, Testes e Dashboard Web):</a:t>
            </a:r>
          </a:p>
          <a:p>
            <a:pPr>
              <a:spcBef>
                <a:spcPts val="300"/>
              </a:spcBef>
            </a:pPr>
            <a:r>
              <a:rPr b="1" sz="1400">
                <a:solidFill>
                  <a:srgbClr val="2563EB"/>
                </a:solidFill>
                <a:hlinkClick r:id="rId2"/>
              </a:rPr>
              <a:t>👉 https://github.com/AldairAzevedo/energy-demand-forecast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</a:defRPr>
            </a:pPr>
            <a:r>
              <a:t>Para clonar e testar localmente:  git clone https://github.com/AldairAzevedo/energy-demand-forecast.git  &amp;&amp;  python -m streamlit run src/ui/app.py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