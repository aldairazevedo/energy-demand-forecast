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Modelagem Preditiva de Carga e Demanda Líquida</a:t>
            </a:r>
            <a:br/>
            <a:r>
              <a:t>na Transição Energética</a:t>
            </a:r>
          </a:p>
          <a:p>
            <a:pPr>
              <a:spcBef>
                <a:spcPts val="1200"/>
              </a:spcBef>
              <a:defRPr sz="1800">
                <a:solidFill>
                  <a:srgbClr val="2563EB"/>
                </a:solidFill>
              </a:defRPr>
            </a:pPr>
            <a:r>
              <a:t>Da Regressão Não-Linear Clássica ao Smart Building com Microgeração Solar</a:t>
            </a:r>
          </a:p>
          <a:p>
            <a:pPr>
              <a:spcBef>
                <a:spcPts val="2800"/>
              </a:spcBef>
              <a:defRPr sz="1300">
                <a:solidFill>
                  <a:srgbClr val="334155"/>
                </a:solidFill>
              </a:defRPr>
            </a:pPr>
            <a:r>
              <a:t>Disciplina: PGENE585 – Transição Energética Sustentável e Mercados de Energia</a:t>
            </a:r>
            <a:br/>
            <a:r>
              <a:t>PPGEE / UFAM – Universidade Federal do Amazonas</a:t>
            </a:r>
            <a:br/>
            <a:r>
              <a:t>Aluno: Aldair da Silva Azevedo | Professor: Dr. Kenny Vinente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1. Contexto e Motivação na Engenharia Elétrica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Fundamentos e Desafios da Descarbonização e Mercado Livre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A Demanda Elétrica como Fenômeno Físico-Climático:</a:t>
            </a:r>
            <a:r>
              <a:rPr sz="1400">
                <a:solidFill>
                  <a:srgbClr val="334155"/>
                </a:solidFill>
              </a:rPr>
              <a:t> O consumo de energia é fortemente não-linear. Em baixas e altas temperaturas, os picos disparam (aquecimento no frio, condicionamento de ar no calor extremo).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Transição Energética e Incerteza:</a:t>
            </a:r>
            <a:r>
              <a:rPr sz="1400">
                <a:solidFill>
                  <a:srgbClr val="334155"/>
                </a:solidFill>
              </a:rPr>
              <a:t> A penetração massiva de energias renováveis (solar e eólica) transforma consumidores em 'prosumidores', exigindo modelos preditivos mais rápidos e robustos.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Abertura do Mercado Livre (Grupo B):</a:t>
            </a:r>
            <a:r>
              <a:rPr sz="1400">
                <a:solidFill>
                  <a:srgbClr val="334155"/>
                </a:solidFill>
              </a:rPr>
              <a:t> Pequenos consumidores e residências passam a responder a sinais horários de preço (PLD Horário), tornando a acurácia da previsão um ativo econômico vital.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Objetivo do Trabalho:</a:t>
            </a:r>
            <a:r>
              <a:rPr sz="1400">
                <a:solidFill>
                  <a:srgbClr val="334155"/>
                </a:solidFill>
              </a:rPr>
              <a:t> Implementar, avaliar e comparar sistematicamente modelos de regressão clássicos e modernos (CMU 15-884) e algoritmos em Smart Buildings (Zenodo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2. Formulação Matemática: Funções de Perda L2 vs. L1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5) – Minimização de Resíduos e Otimização Paramétrica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</a:pPr>
            <a:r>
              <a:rPr b="1" sz="1400">
                <a:solidFill>
                  <a:srgbClr val="0F172A"/>
                </a:solidFill>
              </a:rPr>
              <a:t>Perda Quadrática (L2 - Squared Loss / Mínimos Quadrados):</a:t>
            </a:r>
            <a:r>
              <a:rPr sz="1400">
                <a:solidFill>
                  <a:srgbClr val="334155"/>
                </a:solidFill>
              </a:rPr>
              <a:t> J(θ) = Σ (y_i - φ(x_i) θ)². Pune erros grandes de forma quadrática. Fornece solução analítica exata: θ = (Φᵀ Φ)⁻¹ Φᵀ y. Vulnerável a outliers.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0F172A"/>
                </a:solidFill>
              </a:rPr>
              <a:t>Perda Absoluta (L1 - Absolute Loss / LAD):</a:t>
            </a:r>
            <a:r>
              <a:rPr sz="1400">
                <a:solidFill>
                  <a:srgbClr val="334155"/>
                </a:solidFill>
              </a:rPr>
              <a:t> J(θ) = Σ |y_i - φ(x_i) θ|. Penaliza linearmente os desvios. Otimiza a MEDIANA condicional em vez da média. Extremamente robusta a ruídos e anomalias de rede.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0F172A"/>
                </a:solidFill>
              </a:rPr>
              <a:t>Regularização Ridge (L2 Shrinkage):</a:t>
            </a:r>
            <a:r>
              <a:rPr sz="1400">
                <a:solidFill>
                  <a:srgbClr val="334155"/>
                </a:solidFill>
              </a:rPr>
              <a:t> Adiciona λ ||θ||² à função de perda para restringir a magnitude dos pesos e evitar sobreajuste (overfitting) em espaços de alta dimensão.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3. Arquitetura dos 4 Modelos Avaliados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5) – Do Linear Rígido ao Kernel Gaussiano 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1. Linear Simples:</a:t>
            </a:r>
            <a:r>
              <a:rPr sz="1350">
                <a:solidFill>
                  <a:srgbClr val="334155"/>
                </a:solidFill>
              </a:rPr>
              <a:t> φ(x) = [1, x]. Linha reta rígida. Incapaz de modelar a curva em 'U' da demanda térmica (R² baixo ~ 0.11).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2. Polinomial (Grau 5):</a:t>
            </a:r>
            <a:r>
              <a:rPr sz="1350">
                <a:solidFill>
                  <a:srgbClr val="334155"/>
                </a:solidFill>
              </a:rPr>
              <a:t> φ(x) = [1, x, x², x³, x⁴, x⁵]. Curva suave que dobra no calor e no frio (R² salta para ~ 0.71). Limitação: oscilações nas pontas térmicas.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3. Funções de Base Radial (RBF):</a:t>
            </a:r>
            <a:r>
              <a:rPr sz="1350">
                <a:solidFill>
                  <a:srgbClr val="334155"/>
                </a:solidFill>
              </a:rPr>
              <a:t> 5 sinos gaussianos espalhados com σ=20: φ_j(x) = exp(-(x - μ_j)² / (2σ²)). Captura respostas térmicas locais sem explodir nas extremidades.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4. Kernel Gaussiano com Regularização Ridge (λ=10⁻⁴):</a:t>
            </a:r>
            <a:r>
              <a:rPr sz="1350">
                <a:solidFill>
                  <a:srgbClr val="334155"/>
                </a:solidFill>
              </a:rPr>
              <a:t> Compara cada dia com todo o histórico: K(x, x') = exp(-(x - x')² / (2σ²)). Alcança o melhor R² (0.717) e menor RMSE (0.157 GW).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4. Resultados Experimentais: Ajuste dos 4 Modelos (Q5)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5) – Comparativo das Curvas Ajustadas em 1.460 Dias</a:t>
            </a:r>
          </a:p>
        </p:txBody>
      </p:sp>
      <p:pic>
        <p:nvPicPr>
          <p:cNvPr id="3" name="Picture 2" descr="cmu_q5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2583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5. Higienização de Sensores e Interpolação (Q6)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6) – Tratamento de Sentinelas e Sincronização Horária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Detecção de Sentinelas (-9999):</a:t>
            </a:r>
            <a:r>
              <a:rPr sz="1400">
                <a:solidFill>
                  <a:srgbClr val="334155"/>
                </a:solidFill>
              </a:rPr>
              <a:t> Sensores físicos falham e registram '-9999'. Foram detectados 100 registros sentinelas, tratados por substituição por NaN e interpolação linear temporal.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Deduplicação de Timestamps:</a:t>
            </a:r>
            <a:r>
              <a:rPr sz="1400">
                <a:solidFill>
                  <a:srgbClr val="334155"/>
                </a:solidFill>
              </a:rPr>
              <a:t> Remoção de leituras duplicadas no mesmo segundo para garantir consistência cronológica estrita.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Interpolação e Sincronização Horária:</a:t>
            </a:r>
            <a:r>
              <a:rPr sz="1400">
                <a:solidFill>
                  <a:srgbClr val="334155"/>
                </a:solidFill>
              </a:rPr>
              <a:t> As leituras climáticas assíncronas foram interpoladas linearmente para alinhar com as 35.064 horas de demanda elétrica.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Agregação Diária:</a:t>
            </a:r>
            <a:r>
              <a:rPr sz="1400">
                <a:solidFill>
                  <a:srgbClr val="334155"/>
                </a:solidFill>
              </a:rPr>
              <a:t> Extração da Demanda Máxima do dia (y_d) e médias climáticas para alimentação dos modelos.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6. Prova Empírica: Benefício do Modelo Multivariado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6) – Redução de 8.73% no Erro Quadrático Médio (MSE)</a:t>
            </a:r>
          </a:p>
        </p:txBody>
      </p:sp>
      <p:pic>
        <p:nvPicPr>
          <p:cNvPr id="3" name="Picture 2" descr="cmu_q6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25785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7. Smart Building &amp; Energia Solar (Zenodo 2025)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Competição Zenodo 2025 – Telemetria Real em 105.120 Amostras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Base de Dados Real de Edifício Inteligente:</a:t>
            </a:r>
            <a:r>
              <a:rPr sz="1400">
                <a:solidFill>
                  <a:srgbClr val="334155"/>
                </a:solidFill>
              </a:rPr>
              <a:t> 1 ano completo monitorando Potência (W), Tensão (V), Corrente (A), Geração Solar FV (W) e Temperatura (°C).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Avaliação Multi-critério da Competição:</a:t>
            </a:r>
            <a:r>
              <a:rPr sz="1400">
                <a:solidFill>
                  <a:srgbClr val="334155"/>
                </a:solidFill>
              </a:rPr>
              <a:t> Avalia acurácia preditiva (RMSE, MAE, R²) e tempo computacional de execução.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Comparativo dos Modelos:</a:t>
            </a:r>
            <a:r>
              <a:rPr sz="1400">
                <a:solidFill>
                  <a:srgbClr val="334155"/>
                </a:solidFill>
              </a:rPr>
              <a:t> Ridge Linear (RMSE: 398 W, Tempo: 17 ms) vs. Random Forest (RMSE: 349 W, R²: 0.900, Tempo: 134 ms).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Autoconsumo e Cobertura Solar:</a:t>
            </a:r>
            <a:r>
              <a:rPr sz="1400">
                <a:solidFill>
                  <a:srgbClr val="334155"/>
                </a:solidFill>
              </a:rPr>
              <a:t> A geração solar no telhado cobriu 13.53% de toda a energia elétrica consumida, alterando o perfil de demanda da rede.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8. Impacto da Demanda Líquida e Curva do Pato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Smart Building &amp; Transição – Autoconsumo Solar e Curva do Pato</a:t>
            </a:r>
          </a:p>
        </p:txBody>
      </p:sp>
      <p:pic>
        <p:nvPicPr>
          <p:cNvPr id="3" name="Picture 2" descr="zenodo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56677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9. Conclusões e Contribuições para a Pesquisa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Síntese das Contribuições e Integração com a Dissertação de Mestrado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Superioridade de Modelos Não-Lineares Regularizados:</a:t>
            </a:r>
            <a:r>
              <a:rPr sz="1400">
                <a:solidFill>
                  <a:srgbClr val="334155"/>
                </a:solidFill>
              </a:rPr>
              <a:t> O Kernel Gaussiano Ridge (CMU) e o Random Forest (Zenodo) atingiram R² superior a 0.71 e 0.90, demonstrando a necessidade de capturar a não-linearidade térmica.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A Força da Engenharia de Atributos:</a:t>
            </a:r>
            <a:r>
              <a:rPr sz="1400">
                <a:solidFill>
                  <a:srgbClr val="334155"/>
                </a:solidFill>
              </a:rPr>
              <a:t> A inclusão de variáveis como ponto de orvalho e umidade reduziu o erro em 8.73% em relação ao uso de temperatura isolada.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Conexão com a Dissertação de Mestrado:</a:t>
            </a:r>
            <a:r>
              <a:rPr sz="1400">
                <a:solidFill>
                  <a:srgbClr val="334155"/>
                </a:solidFill>
              </a:rPr>
              <a:t> A previsão de demanda líquida desenvolvida neste trabalho constitui o módulo de inteligência central do sistema autônomo (HEMS) proposto para o Mercado Livre (Grupo B).</a:t>
            </a:r>
          </a:p>
          <a:p>
            <a:pPr>
              <a:spcBef>
                <a:spcPts val="1000"/>
              </a:spcBef>
            </a:pPr>
            <a:r>
              <a:rPr b="1" sz="1400">
                <a:solidFill>
                  <a:srgbClr val="0F172A"/>
                </a:solidFill>
              </a:rPr>
              <a:t>Arquitetura e Qualidade de Software:</a:t>
            </a:r>
            <a:r>
              <a:rPr sz="1400">
                <a:solidFill>
                  <a:srgbClr val="334155"/>
                </a:solidFill>
              </a:rPr>
              <a:t> Aplicação monolítica full stack em Python com POO, auditável via 7 ciclos em JSON, com cobertura de testes automatizados e zero débito técnico (Clean Code).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